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0" r:id="rId3"/>
    <p:sldId id="273" r:id="rId4"/>
    <p:sldId id="277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 varScale="1">
        <p:scale>
          <a:sx n="78" d="100"/>
          <a:sy n="78" d="100"/>
        </p:scale>
        <p:origin x="7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21FF57-93ED-45C0-AB0E-6824F6AFA52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F59D09-0E69-4E71-BAF2-682FCB1249A7}">
      <dgm:prSet phldrT="[Text]" phldr="0"/>
      <dgm:spPr/>
      <dgm:t>
        <a:bodyPr/>
        <a:lstStyle/>
        <a:p>
          <a:r>
            <a:rPr lang="en-IN" b="1" dirty="0"/>
            <a:t>USER</a:t>
          </a:r>
        </a:p>
      </dgm:t>
    </dgm:pt>
    <dgm:pt modelId="{4B787F5A-EEDB-4F24-8B3B-0355F4E60B3B}" type="parTrans" cxnId="{747347FF-8EFF-4107-A371-F21414B64FCF}">
      <dgm:prSet/>
      <dgm:spPr/>
      <dgm:t>
        <a:bodyPr/>
        <a:lstStyle/>
        <a:p>
          <a:endParaRPr lang="en-IN"/>
        </a:p>
      </dgm:t>
    </dgm:pt>
    <dgm:pt modelId="{6CA16361-45EE-4CCF-A5EC-665DC54EA920}" type="sibTrans" cxnId="{747347FF-8EFF-4107-A371-F21414B64FCF}">
      <dgm:prSet/>
      <dgm:spPr/>
      <dgm:t>
        <a:bodyPr/>
        <a:lstStyle/>
        <a:p>
          <a:endParaRPr lang="en-IN"/>
        </a:p>
      </dgm:t>
    </dgm:pt>
    <dgm:pt modelId="{27E50F27-6E65-4447-9581-06434E432A82}">
      <dgm:prSet phldrT="[Text]"/>
      <dgm:spPr/>
      <dgm:t>
        <a:bodyPr/>
        <a:lstStyle/>
        <a:p>
          <a:r>
            <a:rPr lang="en-IN" b="1" dirty="0"/>
            <a:t>REACT APP (S3)</a:t>
          </a:r>
        </a:p>
      </dgm:t>
    </dgm:pt>
    <dgm:pt modelId="{F912E687-4F3B-4F8C-AF89-7D386FED72A2}" type="parTrans" cxnId="{3953D86D-18A4-4DC5-9C0D-B128C9ACC4F1}">
      <dgm:prSet/>
      <dgm:spPr/>
      <dgm:t>
        <a:bodyPr/>
        <a:lstStyle/>
        <a:p>
          <a:endParaRPr lang="en-IN"/>
        </a:p>
      </dgm:t>
    </dgm:pt>
    <dgm:pt modelId="{45B4849D-46A3-4A0F-9002-1DC757A45160}" type="sibTrans" cxnId="{3953D86D-18A4-4DC5-9C0D-B128C9ACC4F1}">
      <dgm:prSet/>
      <dgm:spPr/>
      <dgm:t>
        <a:bodyPr/>
        <a:lstStyle/>
        <a:p>
          <a:endParaRPr lang="en-IN"/>
        </a:p>
      </dgm:t>
    </dgm:pt>
    <dgm:pt modelId="{8B82A88C-2D73-4C1B-A0AC-55D604ED934F}">
      <dgm:prSet phldrT="[Text]"/>
      <dgm:spPr/>
      <dgm:t>
        <a:bodyPr/>
        <a:lstStyle/>
        <a:p>
          <a:r>
            <a:rPr lang="en-IN" b="1" dirty="0"/>
            <a:t>API GATEWAY</a:t>
          </a:r>
        </a:p>
      </dgm:t>
    </dgm:pt>
    <dgm:pt modelId="{4ED78E22-CCBB-47C9-9269-F839C3C4C10A}" type="parTrans" cxnId="{24EEFB18-DBB9-4BC2-84D0-E65F8D155CF2}">
      <dgm:prSet/>
      <dgm:spPr/>
      <dgm:t>
        <a:bodyPr/>
        <a:lstStyle/>
        <a:p>
          <a:endParaRPr lang="en-IN"/>
        </a:p>
      </dgm:t>
    </dgm:pt>
    <dgm:pt modelId="{028FD655-75AB-4E7A-AFF6-3300B9518C1F}" type="sibTrans" cxnId="{24EEFB18-DBB9-4BC2-84D0-E65F8D155CF2}">
      <dgm:prSet/>
      <dgm:spPr/>
      <dgm:t>
        <a:bodyPr/>
        <a:lstStyle/>
        <a:p>
          <a:endParaRPr lang="en-IN"/>
        </a:p>
      </dgm:t>
    </dgm:pt>
    <dgm:pt modelId="{B3E4BA1C-1F54-428E-8DC0-B2DEDC7DC492}">
      <dgm:prSet phldrT="[Text]"/>
      <dgm:spPr/>
      <dgm:t>
        <a:bodyPr/>
        <a:lstStyle/>
        <a:p>
          <a:r>
            <a:rPr lang="en-IN" b="1" dirty="0"/>
            <a:t>LAMBDA FUNCTION</a:t>
          </a:r>
        </a:p>
      </dgm:t>
    </dgm:pt>
    <dgm:pt modelId="{A30FF000-4D3B-4E66-A2BC-3851B725F8C3}" type="parTrans" cxnId="{3B4E2792-793A-4019-87CE-5ABBAA9C01D4}">
      <dgm:prSet/>
      <dgm:spPr/>
      <dgm:t>
        <a:bodyPr/>
        <a:lstStyle/>
        <a:p>
          <a:endParaRPr lang="en-IN"/>
        </a:p>
      </dgm:t>
    </dgm:pt>
    <dgm:pt modelId="{E48F0E78-D7E9-4F74-A39B-A31A2929B0E1}" type="sibTrans" cxnId="{3B4E2792-793A-4019-87CE-5ABBAA9C01D4}">
      <dgm:prSet/>
      <dgm:spPr/>
      <dgm:t>
        <a:bodyPr/>
        <a:lstStyle/>
        <a:p>
          <a:endParaRPr lang="en-IN"/>
        </a:p>
      </dgm:t>
    </dgm:pt>
    <dgm:pt modelId="{FECE43DB-7966-4880-9057-32001B45C558}" type="pres">
      <dgm:prSet presAssocID="{C921FF57-93ED-45C0-AB0E-6824F6AFA527}" presName="Name0" presStyleCnt="0">
        <dgm:presLayoutVars>
          <dgm:dir/>
          <dgm:resizeHandles val="exact"/>
        </dgm:presLayoutVars>
      </dgm:prSet>
      <dgm:spPr/>
    </dgm:pt>
    <dgm:pt modelId="{187A4AF3-4104-4750-8F34-6E047B9B62A5}" type="pres">
      <dgm:prSet presAssocID="{89F59D09-0E69-4E71-BAF2-682FCB1249A7}" presName="node" presStyleLbl="node1" presStyleIdx="0" presStyleCnt="4" custScaleX="60580" custScaleY="40890">
        <dgm:presLayoutVars>
          <dgm:bulletEnabled val="1"/>
        </dgm:presLayoutVars>
      </dgm:prSet>
      <dgm:spPr/>
    </dgm:pt>
    <dgm:pt modelId="{9BB14718-0B14-453D-821E-7C013E2ED296}" type="pres">
      <dgm:prSet presAssocID="{6CA16361-45EE-4CCF-A5EC-665DC54EA920}" presName="sibTrans" presStyleLbl="sibTrans2D1" presStyleIdx="0" presStyleCnt="3" custScaleX="174745"/>
      <dgm:spPr/>
    </dgm:pt>
    <dgm:pt modelId="{8C3AA413-2EB6-4671-8071-5D6ED92D0775}" type="pres">
      <dgm:prSet presAssocID="{6CA16361-45EE-4CCF-A5EC-665DC54EA920}" presName="connectorText" presStyleLbl="sibTrans2D1" presStyleIdx="0" presStyleCnt="3"/>
      <dgm:spPr/>
    </dgm:pt>
    <dgm:pt modelId="{296CE8ED-96BF-4460-960E-3A3CF21AE7FA}" type="pres">
      <dgm:prSet presAssocID="{27E50F27-6E65-4447-9581-06434E432A82}" presName="node" presStyleLbl="node1" presStyleIdx="1" presStyleCnt="4" custScaleX="54900" custScaleY="46377">
        <dgm:presLayoutVars>
          <dgm:bulletEnabled val="1"/>
        </dgm:presLayoutVars>
      </dgm:prSet>
      <dgm:spPr/>
    </dgm:pt>
    <dgm:pt modelId="{A31BE6BB-C983-4E5B-97C6-5110D75B6880}" type="pres">
      <dgm:prSet presAssocID="{45B4849D-46A3-4A0F-9002-1DC757A45160}" presName="sibTrans" presStyleLbl="sibTrans2D1" presStyleIdx="1" presStyleCnt="3" custScaleX="186752"/>
      <dgm:spPr/>
    </dgm:pt>
    <dgm:pt modelId="{0C800B5B-82ED-406D-9D3A-1C75A81F669F}" type="pres">
      <dgm:prSet presAssocID="{45B4849D-46A3-4A0F-9002-1DC757A45160}" presName="connectorText" presStyleLbl="sibTrans2D1" presStyleIdx="1" presStyleCnt="3"/>
      <dgm:spPr/>
    </dgm:pt>
    <dgm:pt modelId="{C6B6DF8F-E408-4EE2-81AF-DF4DC255E653}" type="pres">
      <dgm:prSet presAssocID="{8B82A88C-2D73-4C1B-A0AC-55D604ED934F}" presName="node" presStyleLbl="node1" presStyleIdx="2" presStyleCnt="4" custScaleX="55188" custScaleY="49876">
        <dgm:presLayoutVars>
          <dgm:bulletEnabled val="1"/>
        </dgm:presLayoutVars>
      </dgm:prSet>
      <dgm:spPr/>
    </dgm:pt>
    <dgm:pt modelId="{DA4B0E42-DCA7-407C-A033-3B26F4B860F6}" type="pres">
      <dgm:prSet presAssocID="{028FD655-75AB-4E7A-AFF6-3300B9518C1F}" presName="sibTrans" presStyleLbl="sibTrans2D1" presStyleIdx="2" presStyleCnt="3" custScaleX="177459"/>
      <dgm:spPr/>
    </dgm:pt>
    <dgm:pt modelId="{BB62A6AB-CA4D-47C4-9707-A7F77D8C7D48}" type="pres">
      <dgm:prSet presAssocID="{028FD655-75AB-4E7A-AFF6-3300B9518C1F}" presName="connectorText" presStyleLbl="sibTrans2D1" presStyleIdx="2" presStyleCnt="3"/>
      <dgm:spPr/>
    </dgm:pt>
    <dgm:pt modelId="{871DD0DE-006F-447A-9A4E-3E050A6C4F63}" type="pres">
      <dgm:prSet presAssocID="{B3E4BA1C-1F54-428E-8DC0-B2DEDC7DC492}" presName="node" presStyleLbl="node1" presStyleIdx="3" presStyleCnt="4" custScaleX="83664" custScaleY="43237">
        <dgm:presLayoutVars>
          <dgm:bulletEnabled val="1"/>
        </dgm:presLayoutVars>
      </dgm:prSet>
      <dgm:spPr/>
    </dgm:pt>
  </dgm:ptLst>
  <dgm:cxnLst>
    <dgm:cxn modelId="{351B3914-D2A5-4053-9F07-7D39A5B308B8}" type="presOf" srcId="{6CA16361-45EE-4CCF-A5EC-665DC54EA920}" destId="{9BB14718-0B14-453D-821E-7C013E2ED296}" srcOrd="0" destOrd="0" presId="urn:microsoft.com/office/officeart/2005/8/layout/process1"/>
    <dgm:cxn modelId="{9E638F16-D0D5-45FE-AFF9-79252CBA0AE6}" type="presOf" srcId="{028FD655-75AB-4E7A-AFF6-3300B9518C1F}" destId="{BB62A6AB-CA4D-47C4-9707-A7F77D8C7D48}" srcOrd="1" destOrd="0" presId="urn:microsoft.com/office/officeart/2005/8/layout/process1"/>
    <dgm:cxn modelId="{24EEFB18-DBB9-4BC2-84D0-E65F8D155CF2}" srcId="{C921FF57-93ED-45C0-AB0E-6824F6AFA527}" destId="{8B82A88C-2D73-4C1B-A0AC-55D604ED934F}" srcOrd="2" destOrd="0" parTransId="{4ED78E22-CCBB-47C9-9269-F839C3C4C10A}" sibTransId="{028FD655-75AB-4E7A-AFF6-3300B9518C1F}"/>
    <dgm:cxn modelId="{3953D86D-18A4-4DC5-9C0D-B128C9ACC4F1}" srcId="{C921FF57-93ED-45C0-AB0E-6824F6AFA527}" destId="{27E50F27-6E65-4447-9581-06434E432A82}" srcOrd="1" destOrd="0" parTransId="{F912E687-4F3B-4F8C-AF89-7D386FED72A2}" sibTransId="{45B4849D-46A3-4A0F-9002-1DC757A45160}"/>
    <dgm:cxn modelId="{AC747A6E-AB9D-4A3E-9C23-366A30D8A181}" type="presOf" srcId="{C921FF57-93ED-45C0-AB0E-6824F6AFA527}" destId="{FECE43DB-7966-4880-9057-32001B45C558}" srcOrd="0" destOrd="0" presId="urn:microsoft.com/office/officeart/2005/8/layout/process1"/>
    <dgm:cxn modelId="{2DD2876E-25D7-45FF-A0D0-29E45E99D4B6}" type="presOf" srcId="{028FD655-75AB-4E7A-AFF6-3300B9518C1F}" destId="{DA4B0E42-DCA7-407C-A033-3B26F4B860F6}" srcOrd="0" destOrd="0" presId="urn:microsoft.com/office/officeart/2005/8/layout/process1"/>
    <dgm:cxn modelId="{3B4E2792-793A-4019-87CE-5ABBAA9C01D4}" srcId="{C921FF57-93ED-45C0-AB0E-6824F6AFA527}" destId="{B3E4BA1C-1F54-428E-8DC0-B2DEDC7DC492}" srcOrd="3" destOrd="0" parTransId="{A30FF000-4D3B-4E66-A2BC-3851B725F8C3}" sibTransId="{E48F0E78-D7E9-4F74-A39B-A31A2929B0E1}"/>
    <dgm:cxn modelId="{B629D0A0-0B1D-4123-A8DD-AFA8BCFEF914}" type="presOf" srcId="{45B4849D-46A3-4A0F-9002-1DC757A45160}" destId="{A31BE6BB-C983-4E5B-97C6-5110D75B6880}" srcOrd="0" destOrd="0" presId="urn:microsoft.com/office/officeart/2005/8/layout/process1"/>
    <dgm:cxn modelId="{16D325A8-14FB-40EA-97F8-C6387F10FA64}" type="presOf" srcId="{45B4849D-46A3-4A0F-9002-1DC757A45160}" destId="{0C800B5B-82ED-406D-9D3A-1C75A81F669F}" srcOrd="1" destOrd="0" presId="urn:microsoft.com/office/officeart/2005/8/layout/process1"/>
    <dgm:cxn modelId="{E1E41EDA-6F94-450F-85AE-E7BE503B9DB1}" type="presOf" srcId="{8B82A88C-2D73-4C1B-A0AC-55D604ED934F}" destId="{C6B6DF8F-E408-4EE2-81AF-DF4DC255E653}" srcOrd="0" destOrd="0" presId="urn:microsoft.com/office/officeart/2005/8/layout/process1"/>
    <dgm:cxn modelId="{03FA14EB-D5AC-4CE4-A25E-63E7FF1C8555}" type="presOf" srcId="{B3E4BA1C-1F54-428E-8DC0-B2DEDC7DC492}" destId="{871DD0DE-006F-447A-9A4E-3E050A6C4F63}" srcOrd="0" destOrd="0" presId="urn:microsoft.com/office/officeart/2005/8/layout/process1"/>
    <dgm:cxn modelId="{4C2F28EB-C58D-42A2-BAEA-1C87E7E6DEC8}" type="presOf" srcId="{89F59D09-0E69-4E71-BAF2-682FCB1249A7}" destId="{187A4AF3-4104-4750-8F34-6E047B9B62A5}" srcOrd="0" destOrd="0" presId="urn:microsoft.com/office/officeart/2005/8/layout/process1"/>
    <dgm:cxn modelId="{040008F8-43FE-4521-B452-00079184DC72}" type="presOf" srcId="{6CA16361-45EE-4CCF-A5EC-665DC54EA920}" destId="{8C3AA413-2EB6-4671-8071-5D6ED92D0775}" srcOrd="1" destOrd="0" presId="urn:microsoft.com/office/officeart/2005/8/layout/process1"/>
    <dgm:cxn modelId="{408805F9-0B8C-4931-B537-3D52CD53645C}" type="presOf" srcId="{27E50F27-6E65-4447-9581-06434E432A82}" destId="{296CE8ED-96BF-4460-960E-3A3CF21AE7FA}" srcOrd="0" destOrd="0" presId="urn:microsoft.com/office/officeart/2005/8/layout/process1"/>
    <dgm:cxn modelId="{747347FF-8EFF-4107-A371-F21414B64FCF}" srcId="{C921FF57-93ED-45C0-AB0E-6824F6AFA527}" destId="{89F59D09-0E69-4E71-BAF2-682FCB1249A7}" srcOrd="0" destOrd="0" parTransId="{4B787F5A-EEDB-4F24-8B3B-0355F4E60B3B}" sibTransId="{6CA16361-45EE-4CCF-A5EC-665DC54EA920}"/>
    <dgm:cxn modelId="{ECC35AED-5EF5-4A1E-9392-9C15CA66BF13}" type="presParOf" srcId="{FECE43DB-7966-4880-9057-32001B45C558}" destId="{187A4AF3-4104-4750-8F34-6E047B9B62A5}" srcOrd="0" destOrd="0" presId="urn:microsoft.com/office/officeart/2005/8/layout/process1"/>
    <dgm:cxn modelId="{A132E9AF-FA51-45B9-802D-42E99219ACBF}" type="presParOf" srcId="{FECE43DB-7966-4880-9057-32001B45C558}" destId="{9BB14718-0B14-453D-821E-7C013E2ED296}" srcOrd="1" destOrd="0" presId="urn:microsoft.com/office/officeart/2005/8/layout/process1"/>
    <dgm:cxn modelId="{0433F002-F794-4CB7-A20C-76254AC3BAEB}" type="presParOf" srcId="{9BB14718-0B14-453D-821E-7C013E2ED296}" destId="{8C3AA413-2EB6-4671-8071-5D6ED92D0775}" srcOrd="0" destOrd="0" presId="urn:microsoft.com/office/officeart/2005/8/layout/process1"/>
    <dgm:cxn modelId="{7A13ACFF-0EF9-43C3-BF8D-EECB06BC6EFB}" type="presParOf" srcId="{FECE43DB-7966-4880-9057-32001B45C558}" destId="{296CE8ED-96BF-4460-960E-3A3CF21AE7FA}" srcOrd="2" destOrd="0" presId="urn:microsoft.com/office/officeart/2005/8/layout/process1"/>
    <dgm:cxn modelId="{05FB5769-AA3D-4C7A-9039-8DDF4B0359F9}" type="presParOf" srcId="{FECE43DB-7966-4880-9057-32001B45C558}" destId="{A31BE6BB-C983-4E5B-97C6-5110D75B6880}" srcOrd="3" destOrd="0" presId="urn:microsoft.com/office/officeart/2005/8/layout/process1"/>
    <dgm:cxn modelId="{BAA54FAB-2EB2-443A-9DAD-E3E2C72D38FE}" type="presParOf" srcId="{A31BE6BB-C983-4E5B-97C6-5110D75B6880}" destId="{0C800B5B-82ED-406D-9D3A-1C75A81F669F}" srcOrd="0" destOrd="0" presId="urn:microsoft.com/office/officeart/2005/8/layout/process1"/>
    <dgm:cxn modelId="{B7B88CB8-4A5C-47EA-B3DB-AF1504534917}" type="presParOf" srcId="{FECE43DB-7966-4880-9057-32001B45C558}" destId="{C6B6DF8F-E408-4EE2-81AF-DF4DC255E653}" srcOrd="4" destOrd="0" presId="urn:microsoft.com/office/officeart/2005/8/layout/process1"/>
    <dgm:cxn modelId="{EED8577D-61F5-4F33-BDC6-9250541C0CFD}" type="presParOf" srcId="{FECE43DB-7966-4880-9057-32001B45C558}" destId="{DA4B0E42-DCA7-407C-A033-3B26F4B860F6}" srcOrd="5" destOrd="0" presId="urn:microsoft.com/office/officeart/2005/8/layout/process1"/>
    <dgm:cxn modelId="{D58A25DB-CE6B-407E-BEB7-B87471E26B49}" type="presParOf" srcId="{DA4B0E42-DCA7-407C-A033-3B26F4B860F6}" destId="{BB62A6AB-CA4D-47C4-9707-A7F77D8C7D48}" srcOrd="0" destOrd="0" presId="urn:microsoft.com/office/officeart/2005/8/layout/process1"/>
    <dgm:cxn modelId="{B72DD91F-92DD-4945-886F-641B3DC8E85B}" type="presParOf" srcId="{FECE43DB-7966-4880-9057-32001B45C558}" destId="{871DD0DE-006F-447A-9A4E-3E050A6C4F63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7A4AF3-4104-4750-8F34-6E047B9B62A5}">
      <dsp:nvSpPr>
        <dsp:cNvPr id="0" name=""/>
        <dsp:cNvSpPr/>
      </dsp:nvSpPr>
      <dsp:spPr>
        <a:xfrm>
          <a:off x="1118" y="311675"/>
          <a:ext cx="1835522" cy="7433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USER</a:t>
          </a:r>
        </a:p>
      </dsp:txBody>
      <dsp:txXfrm>
        <a:off x="22890" y="333447"/>
        <a:ext cx="1791978" cy="699815"/>
      </dsp:txXfrm>
    </dsp:sp>
    <dsp:sp modelId="{9BB14718-0B14-453D-821E-7C013E2ED296}">
      <dsp:nvSpPr>
        <dsp:cNvPr id="0" name=""/>
        <dsp:cNvSpPr/>
      </dsp:nvSpPr>
      <dsp:spPr>
        <a:xfrm>
          <a:off x="1899573" y="307646"/>
          <a:ext cx="1122460" cy="7514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1899573" y="457930"/>
        <a:ext cx="897035" cy="450850"/>
      </dsp:txXfrm>
    </dsp:sp>
    <dsp:sp modelId="{296CE8ED-96BF-4460-960E-3A3CF21AE7FA}">
      <dsp:nvSpPr>
        <dsp:cNvPr id="0" name=""/>
        <dsp:cNvSpPr/>
      </dsp:nvSpPr>
      <dsp:spPr>
        <a:xfrm>
          <a:off x="3048607" y="261800"/>
          <a:ext cx="1663423" cy="84311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REACT APP (S3)</a:t>
          </a:r>
        </a:p>
      </dsp:txBody>
      <dsp:txXfrm>
        <a:off x="3073301" y="286494"/>
        <a:ext cx="1614035" cy="793722"/>
      </dsp:txXfrm>
    </dsp:sp>
    <dsp:sp modelId="{A31BE6BB-C983-4E5B-97C6-5110D75B6880}">
      <dsp:nvSpPr>
        <dsp:cNvPr id="0" name=""/>
        <dsp:cNvSpPr/>
      </dsp:nvSpPr>
      <dsp:spPr>
        <a:xfrm>
          <a:off x="4736399" y="307646"/>
          <a:ext cx="1199586" cy="7514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4736399" y="457930"/>
        <a:ext cx="974161" cy="450850"/>
      </dsp:txXfrm>
    </dsp:sp>
    <dsp:sp modelId="{C6B6DF8F-E408-4EE2-81AF-DF4DC255E653}">
      <dsp:nvSpPr>
        <dsp:cNvPr id="0" name=""/>
        <dsp:cNvSpPr/>
      </dsp:nvSpPr>
      <dsp:spPr>
        <a:xfrm>
          <a:off x="5923996" y="229995"/>
          <a:ext cx="1672149" cy="9067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API GATEWAY</a:t>
          </a:r>
        </a:p>
      </dsp:txBody>
      <dsp:txXfrm>
        <a:off x="5950553" y="256552"/>
        <a:ext cx="1619035" cy="853606"/>
      </dsp:txXfrm>
    </dsp:sp>
    <dsp:sp modelId="{DA4B0E42-DCA7-407C-A033-3B26F4B860F6}">
      <dsp:nvSpPr>
        <dsp:cNvPr id="0" name=""/>
        <dsp:cNvSpPr/>
      </dsp:nvSpPr>
      <dsp:spPr>
        <a:xfrm>
          <a:off x="7650361" y="307646"/>
          <a:ext cx="1139893" cy="75141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7650361" y="457930"/>
        <a:ext cx="914468" cy="450850"/>
      </dsp:txXfrm>
    </dsp:sp>
    <dsp:sp modelId="{871DD0DE-006F-447A-9A4E-3E050A6C4F63}">
      <dsp:nvSpPr>
        <dsp:cNvPr id="0" name=""/>
        <dsp:cNvSpPr/>
      </dsp:nvSpPr>
      <dsp:spPr>
        <a:xfrm>
          <a:off x="8808112" y="290342"/>
          <a:ext cx="2534948" cy="7860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LAMBDA FUNCTION</a:t>
          </a:r>
        </a:p>
      </dsp:txBody>
      <dsp:txXfrm>
        <a:off x="8831134" y="313364"/>
        <a:ext cx="2488904" cy="7399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C2F2-04EA-4043-8813-8CD049319F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662BCD-E4DD-4D98-BC82-FBFB9972D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81A34-82A8-4E78-A5E0-770560FA7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F2D0-E4AF-4DA9-92F2-69038F35137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02F0E-0573-4E72-8B2A-530E79A79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3F0D0-F40F-4802-979B-A71EF927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1888-6515-42C8-9CF2-772A6B46B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57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FB5A-D759-4129-B0B9-591252B08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4748C-9FD3-4AB7-A9BA-CD6B22C43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71E66-2907-4CE8-AD00-7F5B10017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F2D0-E4AF-4DA9-92F2-69038F35137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F5613-DE9D-4D73-9C99-408537DCD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29E53-AB4F-46DB-90B9-E7311F359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1888-6515-42C8-9CF2-772A6B46B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33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2C4E-071E-4B68-AC2E-D1228F51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77FD1-F3AE-41EE-99E9-C23324B51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09591-D899-48F8-84AC-EA3001678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F2D0-E4AF-4DA9-92F2-69038F35137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23D92-464F-437C-89F8-615686C83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8328F-84BF-40D0-B814-E7363688F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1888-6515-42C8-9CF2-772A6B46B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12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3DEE-5F07-45A7-9806-8C254CBA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6A488-1D42-40DF-83C9-DB4A3DB76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74D72-2FE7-42D5-A4DC-6E9F25FD3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6E60B-12F8-474E-9E6B-0FE565AA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F2D0-E4AF-4DA9-92F2-69038F35137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94DA9-EFDC-485C-B7D4-3DFC6289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CEC2F-289F-45D7-A3F6-0F92AF32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1888-6515-42C8-9CF2-772A6B46B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06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6D419-4DDD-442F-AF92-79662A56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E0F35-C5C3-407F-BC68-63CDA9978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CF1C54-C174-4790-BA42-EB6D6B275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EF6EE-5E36-4F7F-A817-B8C78BC85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F535DA-3810-495F-8313-16B000452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25D384-EAC8-4CC6-9A49-92927DFD2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F2D0-E4AF-4DA9-92F2-69038F35137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FAFDD6-0755-4D9D-8696-F8A6E2943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D5A93-74A2-46C4-9F5F-1A2CE51B4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1888-6515-42C8-9CF2-772A6B46B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01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E87B6-129E-4F46-A82A-3F1E67D4A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0ED570-F98C-4074-9EDC-185E6FFC9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F2D0-E4AF-4DA9-92F2-69038F35137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42484E-5855-4B12-BECC-4EB134F0B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E60368-8DF6-458A-9461-CE50FFEE0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1888-6515-42C8-9CF2-772A6B46B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473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6A771E-C57B-4741-B7F4-B8E4B6551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F2D0-E4AF-4DA9-92F2-69038F35137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E0134-7D31-4551-B57C-5A9E352BB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36FFC-21B4-4D56-BEB5-3F09B1B8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1888-6515-42C8-9CF2-772A6B46BF6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95DC076-91BC-474E-8755-1CB04DEE4A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94637" y="906463"/>
            <a:ext cx="3459163" cy="504507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302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47ED-5968-4786-848E-3CA33C58F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02C90-6E8F-48D1-B1E0-8599F66E5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896512-3461-4155-B370-C98CCF5E6A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CBE47C-014C-4393-96FE-F2FC2304E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F2D0-E4AF-4DA9-92F2-69038F35137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EC233-BA59-484E-9CF8-62F944BA7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27E6F-BBCA-4CF0-8902-50789D689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1888-6515-42C8-9CF2-772A6B46B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829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89116-9D53-4954-8C23-E23331879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86824F-731F-4105-B6B7-F37E5D033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B8B5E-19CB-4CC0-96DC-5B69321C0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EFCB5-9C59-435F-8FE7-22927E9DF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F2D0-E4AF-4DA9-92F2-69038F35137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8BBDF2-D269-4CF6-8064-F401E3528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AA3707-C3C2-42BA-B3E2-F227A6800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1888-6515-42C8-9CF2-772A6B46B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47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CA26-A850-4A69-A8ED-131EC5489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E4131A-1FF8-4431-A1A0-B3111AAD37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98B71-26C5-4DEF-9E5E-82FA40677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F2D0-E4AF-4DA9-92F2-69038F35137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D6DC0-F782-4CA0-BCA2-C4460F16A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63103-9E09-49A1-9685-3F320B98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1888-6515-42C8-9CF2-772A6B46B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3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B4468C-13AE-4104-AA42-33A44D4187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E14A7-7BDB-470F-900D-47C47007F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4F9D4-B00C-48F5-B78B-8B9DA9BBD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6F2D0-E4AF-4DA9-92F2-69038F35137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1DF67-9DC5-4EA0-B604-209528BB8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B0FA0-67E3-47D4-96E6-41A890033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91888-6515-42C8-9CF2-772A6B46B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620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8B559D-6E13-4A2D-ACA8-9D19067F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D19CB-A0A1-486B-BB46-EADB4AFF8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5A3B7-7967-41CD-A86E-27BEDA8A8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6F2D0-E4AF-4DA9-92F2-69038F35137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1DAD9-9E13-4588-ADB2-D518B7261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70AF0-A1A0-460F-A94D-6C24751FC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91888-6515-42C8-9CF2-772A6B46B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39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DEEF9-5B03-B6FF-94F3-3A1D446E4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C235AA5-88CF-673B-8F7B-1C12E0784C76}"/>
              </a:ext>
            </a:extLst>
          </p:cNvPr>
          <p:cNvSpPr/>
          <p:nvPr/>
        </p:nvSpPr>
        <p:spPr>
          <a:xfrm>
            <a:off x="0" y="6566053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CFEF79-42F0-C90C-9765-ED8C94F0A392}"/>
              </a:ext>
            </a:extLst>
          </p:cNvPr>
          <p:cNvSpPr/>
          <p:nvPr/>
        </p:nvSpPr>
        <p:spPr>
          <a:xfrm>
            <a:off x="0" y="1616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94F110-5BD1-E159-021B-A869815D5A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008" y="735154"/>
            <a:ext cx="7999416" cy="44961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65267B-463E-2A74-B146-C679770294CC}"/>
              </a:ext>
            </a:extLst>
          </p:cNvPr>
          <p:cNvSpPr txBox="1"/>
          <p:nvPr/>
        </p:nvSpPr>
        <p:spPr>
          <a:xfrm>
            <a:off x="1578696" y="2290737"/>
            <a:ext cx="95340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: Pooja.M</a:t>
            </a:r>
          </a:p>
          <a:p>
            <a:r>
              <a:rPr lang="en-US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Greeting Website using AWS Cloud Services</a:t>
            </a:r>
          </a:p>
          <a:p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 Cloud Engineer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094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973C6-1445-5743-8C4E-FF1993D4E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47DE8E-6EC3-8C57-7FAC-AEF0D8A43720}"/>
              </a:ext>
            </a:extLst>
          </p:cNvPr>
          <p:cNvSpPr txBox="1"/>
          <p:nvPr/>
        </p:nvSpPr>
        <p:spPr>
          <a:xfrm>
            <a:off x="617666" y="480045"/>
            <a:ext cx="4725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🧩</a:t>
            </a:r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: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729979-5888-ECB3-5D0C-DE682452F10B}"/>
              </a:ext>
            </a:extLst>
          </p:cNvPr>
          <p:cNvSpPr/>
          <p:nvPr/>
        </p:nvSpPr>
        <p:spPr>
          <a:xfrm>
            <a:off x="0" y="6566053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3A4F49-06D5-C767-7DDF-E225D827E133}"/>
              </a:ext>
            </a:extLst>
          </p:cNvPr>
          <p:cNvSpPr/>
          <p:nvPr/>
        </p:nvSpPr>
        <p:spPr>
          <a:xfrm>
            <a:off x="0" y="1616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AA5C18-5258-19B5-E79C-7C1CD9B07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98" y="1197047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00C134-BAA3-58C6-AEDF-E8EA9374E41E}"/>
              </a:ext>
            </a:extLst>
          </p:cNvPr>
          <p:cNvSpPr txBox="1"/>
          <p:nvPr/>
        </p:nvSpPr>
        <p:spPr>
          <a:xfrm>
            <a:off x="1114522" y="1105258"/>
            <a:ext cx="8480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AWS CDK to provision S3 buckets, API Gateway, and Lambda functions to build a simple web application with automated infrastructure deployment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AC6880-4FCD-2779-0CD4-263FB74BD9E6}"/>
              </a:ext>
            </a:extLst>
          </p:cNvPr>
          <p:cNvSpPr txBox="1"/>
          <p:nvPr/>
        </p:nvSpPr>
        <p:spPr>
          <a:xfrm>
            <a:off x="617666" y="1869371"/>
            <a:ext cx="4725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🧩</a:t>
            </a:r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Goal :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753B941-BA3E-453B-9E5D-5F63B29420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98" y="2605581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B33B4D5-446A-C85B-4C0A-2E50E0C542AA}"/>
              </a:ext>
            </a:extLst>
          </p:cNvPr>
          <p:cNvSpPr txBox="1"/>
          <p:nvPr/>
        </p:nvSpPr>
        <p:spPr>
          <a:xfrm>
            <a:off x="1114522" y="2456415"/>
            <a:ext cx="84807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a serverless greeting website where users can enter their name and receive a personalized greeting along with a random “quote of the day.”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3D78358-5AD3-305D-B90B-20F8173D3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198" y="3311527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C627C6A-3724-C8D9-DDAF-FA7C1E8A54A5}"/>
              </a:ext>
            </a:extLst>
          </p:cNvPr>
          <p:cNvSpPr txBox="1"/>
          <p:nvPr/>
        </p:nvSpPr>
        <p:spPr>
          <a:xfrm>
            <a:off x="1114522" y="3223947"/>
            <a:ext cx="8480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resources are deployed and managed through AWS CDK.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399FC1-6874-C755-C0F0-C7AA9AC555EE}"/>
              </a:ext>
            </a:extLst>
          </p:cNvPr>
          <p:cNvSpPr txBox="1"/>
          <p:nvPr/>
        </p:nvSpPr>
        <p:spPr>
          <a:xfrm>
            <a:off x="617665" y="3657910"/>
            <a:ext cx="4725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☁️ AWS Services Used: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0E6DCF-DE27-B4E6-0FD3-1AAC8A76999F}"/>
              </a:ext>
            </a:extLst>
          </p:cNvPr>
          <p:cNvSpPr txBox="1"/>
          <p:nvPr/>
        </p:nvSpPr>
        <p:spPr>
          <a:xfrm>
            <a:off x="1076536" y="4248456"/>
            <a:ext cx="806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CDK — Infrastructure as Code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tool to automate provisioning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B5646F08-5BC3-3957-586F-B2356CAAD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42" y="4274366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AFB90DA-F0B0-4DDD-A208-B91C7712D818}"/>
              </a:ext>
            </a:extLst>
          </p:cNvPr>
          <p:cNvSpPr txBox="1"/>
          <p:nvPr/>
        </p:nvSpPr>
        <p:spPr>
          <a:xfrm>
            <a:off x="1076535" y="4700245"/>
            <a:ext cx="7470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AWS Lambda — Serverless backend to process greetings and generate quotes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AD466913-8706-120D-71FE-BF5E637D2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42" y="4726155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C084CC23-092D-D3D4-3AD1-AF95CB336655}"/>
              </a:ext>
            </a:extLst>
          </p:cNvPr>
          <p:cNvSpPr txBox="1"/>
          <p:nvPr/>
        </p:nvSpPr>
        <p:spPr>
          <a:xfrm>
            <a:off x="1086529" y="5168422"/>
            <a:ext cx="8831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API Gateway — Exposes REST API endpoint to connect frontend and backend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E6097E6-2831-CB14-5F1D-467CD3F7B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36" y="5194332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64B9937E-E166-C748-12F5-A6C6D55A3608}"/>
              </a:ext>
            </a:extLst>
          </p:cNvPr>
          <p:cNvSpPr txBox="1"/>
          <p:nvPr/>
        </p:nvSpPr>
        <p:spPr>
          <a:xfrm>
            <a:off x="1086530" y="5675698"/>
            <a:ext cx="55391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S3 — Hosts the React frontend as a static website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F10380C-7A18-28CD-E1EB-4E2FF8BFC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36" y="5701608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5254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CFCB-AB5C-1DA1-8FFB-6D7621A64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0630136-0DD0-9C73-ADFA-123E27F4D136}"/>
              </a:ext>
            </a:extLst>
          </p:cNvPr>
          <p:cNvSpPr txBox="1"/>
          <p:nvPr/>
        </p:nvSpPr>
        <p:spPr>
          <a:xfrm>
            <a:off x="477707" y="461224"/>
            <a:ext cx="4725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🧱</a:t>
            </a:r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 :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97CFA3-7CCF-1066-E8B8-84AD075754ED}"/>
              </a:ext>
            </a:extLst>
          </p:cNvPr>
          <p:cNvSpPr/>
          <p:nvPr/>
        </p:nvSpPr>
        <p:spPr>
          <a:xfrm>
            <a:off x="0" y="6566053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1FA7B2-ED7F-D8C8-A44A-2BD4A45B1D93}"/>
              </a:ext>
            </a:extLst>
          </p:cNvPr>
          <p:cNvSpPr/>
          <p:nvPr/>
        </p:nvSpPr>
        <p:spPr>
          <a:xfrm>
            <a:off x="0" y="1616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Diagram 21">
            <a:extLst>
              <a:ext uri="{FF2B5EF4-FFF2-40B4-BE49-F238E27FC236}">
                <a16:creationId xmlns:a16="http://schemas.microsoft.com/office/drawing/2014/main" id="{F3A367FC-EEEF-3011-641F-8EB3909EB2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5742294"/>
              </p:ext>
            </p:extLst>
          </p:nvPr>
        </p:nvGraphicFramePr>
        <p:xfrm>
          <a:off x="617666" y="1024890"/>
          <a:ext cx="11344179" cy="13667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9" name="Arrow: U-Turn 28">
            <a:extLst>
              <a:ext uri="{FF2B5EF4-FFF2-40B4-BE49-F238E27FC236}">
                <a16:creationId xmlns:a16="http://schemas.microsoft.com/office/drawing/2014/main" id="{D2AFB64F-4C48-68CB-59F4-105F5D960067}"/>
              </a:ext>
            </a:extLst>
          </p:cNvPr>
          <p:cNvSpPr/>
          <p:nvPr/>
        </p:nvSpPr>
        <p:spPr>
          <a:xfrm flipH="1" flipV="1">
            <a:off x="1306286" y="2201918"/>
            <a:ext cx="9507894" cy="734538"/>
          </a:xfrm>
          <a:prstGeom prst="uturnArrow">
            <a:avLst>
              <a:gd name="adj1" fmla="val 25000"/>
              <a:gd name="adj2" fmla="val 25000"/>
              <a:gd name="adj3" fmla="val 25000"/>
              <a:gd name="adj4" fmla="val 43750"/>
              <a:gd name="adj5" fmla="val 10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CD0144F-AD9A-1A46-FDA4-173402464F1A}"/>
              </a:ext>
            </a:extLst>
          </p:cNvPr>
          <p:cNvSpPr txBox="1"/>
          <p:nvPr/>
        </p:nvSpPr>
        <p:spPr>
          <a:xfrm>
            <a:off x="2495939" y="1550001"/>
            <a:ext cx="1170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Name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15B028-527D-E524-C959-1CE34B70D795}"/>
              </a:ext>
            </a:extLst>
          </p:cNvPr>
          <p:cNvSpPr txBox="1"/>
          <p:nvPr/>
        </p:nvSpPr>
        <p:spPr>
          <a:xfrm>
            <a:off x="5342803" y="1477411"/>
            <a:ext cx="11709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Name &amp; Calls API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DE8C3A-49E4-0375-7776-FAA8949F6624}"/>
              </a:ext>
            </a:extLst>
          </p:cNvPr>
          <p:cNvSpPr txBox="1"/>
          <p:nvPr/>
        </p:nvSpPr>
        <p:spPr>
          <a:xfrm>
            <a:off x="8364076" y="1477410"/>
            <a:ext cx="8423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Triggers</a:t>
            </a:r>
          </a:p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05AE49-424B-DC19-F637-5ED10EBBED9C}"/>
              </a:ext>
            </a:extLst>
          </p:cNvPr>
          <p:cNvSpPr txBox="1"/>
          <p:nvPr/>
        </p:nvSpPr>
        <p:spPr>
          <a:xfrm>
            <a:off x="4876271" y="2391597"/>
            <a:ext cx="16375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Response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030368-E7F3-97D5-6503-FF621B0CAFBC}"/>
              </a:ext>
            </a:extLst>
          </p:cNvPr>
          <p:cNvSpPr txBox="1"/>
          <p:nvPr/>
        </p:nvSpPr>
        <p:spPr>
          <a:xfrm>
            <a:off x="477707" y="3252958"/>
            <a:ext cx="4725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🖼️ </a:t>
            </a:r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Overview: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BBE1952-3CED-FB5E-0EAD-2A401891BA88}"/>
              </a:ext>
            </a:extLst>
          </p:cNvPr>
          <p:cNvSpPr txBox="1"/>
          <p:nvPr/>
        </p:nvSpPr>
        <p:spPr>
          <a:xfrm>
            <a:off x="949960" y="3947625"/>
            <a:ext cx="9173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(React):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on S3, collects user input (name) and sends request to backend API.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12FF66B0-41AE-4E4F-3ABF-9995BC331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66" y="3973535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5F5F30C4-3C58-B1D7-34C5-8A632364EBBC}"/>
              </a:ext>
            </a:extLst>
          </p:cNvPr>
          <p:cNvSpPr txBox="1"/>
          <p:nvPr/>
        </p:nvSpPr>
        <p:spPr>
          <a:xfrm>
            <a:off x="949959" y="4399414"/>
            <a:ext cx="7470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Gateway: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Receives request from frontend, triggers the Lambda function.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5B0EE82D-782D-80BA-4368-FE399CB39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666" y="4425324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EFABF001-DC63-B766-DBD8-F6FA769211EA}"/>
              </a:ext>
            </a:extLst>
          </p:cNvPr>
          <p:cNvSpPr txBox="1"/>
          <p:nvPr/>
        </p:nvSpPr>
        <p:spPr>
          <a:xfrm>
            <a:off x="959953" y="4867591"/>
            <a:ext cx="8831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Lambda: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a personalized greeting and picks a random quote.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34B00075-8F28-5048-440A-657C60D575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60" y="4893501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813742FD-373C-731D-D1D2-167EBE791A2E}"/>
              </a:ext>
            </a:extLst>
          </p:cNvPr>
          <p:cNvSpPr txBox="1"/>
          <p:nvPr/>
        </p:nvSpPr>
        <p:spPr>
          <a:xfrm>
            <a:off x="959953" y="5337543"/>
            <a:ext cx="10012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Lambda returns the data via API Gateway → React app displays greeting + quote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22B051DA-75A1-E333-7DAC-2207EB8AC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660" y="5400777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030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39EA1-435D-2307-A9B5-0A39A846E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73A4AC-3507-9A46-5FEF-50DDA0018AE6}"/>
              </a:ext>
            </a:extLst>
          </p:cNvPr>
          <p:cNvSpPr txBox="1"/>
          <p:nvPr/>
        </p:nvSpPr>
        <p:spPr>
          <a:xfrm>
            <a:off x="239486" y="433390"/>
            <a:ext cx="8125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⚙️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CDK Setup (Infrastructure as Code</a:t>
            </a:r>
            <a:r>
              <a:rPr lang="en-IN" sz="2800" b="1" dirty="0"/>
              <a:t>) :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7EE082-045C-684A-96B3-3A094786B1BE}"/>
              </a:ext>
            </a:extLst>
          </p:cNvPr>
          <p:cNvSpPr/>
          <p:nvPr/>
        </p:nvSpPr>
        <p:spPr>
          <a:xfrm>
            <a:off x="0" y="6566053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457E90-94C5-23FB-DA61-28AFF3D7828E}"/>
              </a:ext>
            </a:extLst>
          </p:cNvPr>
          <p:cNvSpPr/>
          <p:nvPr/>
        </p:nvSpPr>
        <p:spPr>
          <a:xfrm>
            <a:off x="0" y="1616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24097-4A64-A94B-FE1D-5BF6A821FC46}"/>
              </a:ext>
            </a:extLst>
          </p:cNvPr>
          <p:cNvSpPr txBox="1"/>
          <p:nvPr/>
        </p:nvSpPr>
        <p:spPr>
          <a:xfrm>
            <a:off x="239486" y="938322"/>
            <a:ext cx="4725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📌</a:t>
            </a:r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C4E9D1-487D-3CFF-DFE4-596C745DEE73}"/>
              </a:ext>
            </a:extLst>
          </p:cNvPr>
          <p:cNvSpPr txBox="1"/>
          <p:nvPr/>
        </p:nvSpPr>
        <p:spPr>
          <a:xfrm>
            <a:off x="754018" y="1538886"/>
            <a:ext cx="5341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Lambda function using Node.js 18 runtime and code from the “lambda” folder..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BA183C8-B1E9-3A41-1A04-6DE3203C3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94" y="1633062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C72145B-D443-31F2-17E9-D096A071DFE1}"/>
              </a:ext>
            </a:extLst>
          </p:cNvPr>
          <p:cNvSpPr txBox="1"/>
          <p:nvPr/>
        </p:nvSpPr>
        <p:spPr>
          <a:xfrm>
            <a:off x="746486" y="2195622"/>
            <a:ext cx="534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API Gateway with built-in CORS support.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B493E2A-FA77-BA50-CC23-7CDE866D4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62" y="2289798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F1F9A4B-4815-5AE9-3A28-56E317C88A63}"/>
              </a:ext>
            </a:extLst>
          </p:cNvPr>
          <p:cNvSpPr txBox="1"/>
          <p:nvPr/>
        </p:nvSpPr>
        <p:spPr>
          <a:xfrm>
            <a:off x="754018" y="2642298"/>
            <a:ext cx="534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a /greet endpoint linked to the Lambda function.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A2F3F65A-3C81-2EEE-B302-7EA9A8A9B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94" y="2736474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8BEFA90-5474-96E4-D701-7C785175BB7F}"/>
              </a:ext>
            </a:extLst>
          </p:cNvPr>
          <p:cNvSpPr txBox="1"/>
          <p:nvPr/>
        </p:nvSpPr>
        <p:spPr>
          <a:xfrm>
            <a:off x="754018" y="3087654"/>
            <a:ext cx="534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API URL automatically after deployment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E2AB4AC-D29D-AEF7-6D6F-D8B095867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94" y="3181830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FD06A57-29BC-F993-62E3-04E60E6CB72F}"/>
              </a:ext>
            </a:extLst>
          </p:cNvPr>
          <p:cNvSpPr txBox="1"/>
          <p:nvPr/>
        </p:nvSpPr>
        <p:spPr>
          <a:xfrm>
            <a:off x="754018" y="3533010"/>
            <a:ext cx="53419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setup deployed with a single command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cdk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8ECC576-4C52-B43D-E4BA-73BD40FD26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94" y="3627186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069195D-09F6-72FD-3FA3-1F037D330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687" y="1006009"/>
            <a:ext cx="5341982" cy="544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310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107AB-422E-FBC2-7FBC-C6593B080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FBCD5B1-981E-E62D-E72C-2975A2415BE9}"/>
              </a:ext>
            </a:extLst>
          </p:cNvPr>
          <p:cNvSpPr txBox="1"/>
          <p:nvPr/>
        </p:nvSpPr>
        <p:spPr>
          <a:xfrm>
            <a:off x="239486" y="433390"/>
            <a:ext cx="8125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⚙️</a:t>
            </a:r>
            <a:r>
              <a:rPr lang="en-US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(AWS Lambda + API Gateway)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9A521A-105B-8375-1E90-CA632FCC8F26}"/>
              </a:ext>
            </a:extLst>
          </p:cNvPr>
          <p:cNvSpPr/>
          <p:nvPr/>
        </p:nvSpPr>
        <p:spPr>
          <a:xfrm>
            <a:off x="0" y="6566053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DEF8D3-E621-C7F9-3D3A-882026C7E3B7}"/>
              </a:ext>
            </a:extLst>
          </p:cNvPr>
          <p:cNvSpPr/>
          <p:nvPr/>
        </p:nvSpPr>
        <p:spPr>
          <a:xfrm>
            <a:off x="0" y="1616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33D20F8-3583-DC3A-1576-888DD4ECF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716" y="1096437"/>
            <a:ext cx="5752633" cy="51454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E3FE82-BECC-620D-D2D6-8380076393B2}"/>
              </a:ext>
            </a:extLst>
          </p:cNvPr>
          <p:cNvSpPr txBox="1"/>
          <p:nvPr/>
        </p:nvSpPr>
        <p:spPr>
          <a:xfrm>
            <a:off x="239486" y="886785"/>
            <a:ext cx="4725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📌</a:t>
            </a:r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2051E-B555-80A1-6B5E-2EA72727236C}"/>
              </a:ext>
            </a:extLst>
          </p:cNvPr>
          <p:cNvSpPr txBox="1"/>
          <p:nvPr/>
        </p:nvSpPr>
        <p:spPr>
          <a:xfrm>
            <a:off x="535604" y="1444460"/>
            <a:ext cx="5560395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user input: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the name parameter from the API request (event.queryStringParameters)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Defaults to "Guest" if no name is provided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F335DF-6041-0BC0-B512-D55E59876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86" y="1499964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BF62029-8F3D-21E9-4FF8-C1F7FC670D45}"/>
              </a:ext>
            </a:extLst>
          </p:cNvPr>
          <p:cNvSpPr txBox="1"/>
          <p:nvPr/>
        </p:nvSpPr>
        <p:spPr>
          <a:xfrm>
            <a:off x="535604" y="2823490"/>
            <a:ext cx="5560395" cy="101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Quotes array: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multiple motivational quotes.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Picks one randomly each time the function is invoked.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43D527-8F12-5CE4-AFC6-77D6DB3FB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86" y="2878994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CF5100-D157-0EF8-FA88-B9F56D9E1313}"/>
              </a:ext>
            </a:extLst>
          </p:cNvPr>
          <p:cNvSpPr txBox="1"/>
          <p:nvPr/>
        </p:nvSpPr>
        <p:spPr>
          <a:xfrm>
            <a:off x="535604" y="3923024"/>
            <a:ext cx="55603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Response: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JSON object with greeting and selected quote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CORS header so the frontend can call the API from any domain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535C2A-E6C4-99AE-BF6E-2A0DC0FD0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86" y="3978528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AECFB99-A7B6-7B3E-6A0A-F137646D09CA}"/>
              </a:ext>
            </a:extLst>
          </p:cNvPr>
          <p:cNvSpPr txBox="1"/>
          <p:nvPr/>
        </p:nvSpPr>
        <p:spPr>
          <a:xfrm>
            <a:off x="535604" y="5118575"/>
            <a:ext cx="55603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Response: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statusCode 200 along with JSON payload back through API Gateway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receives this data and displays the greeting + quote dynamically.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8866C19-B2F0-03B7-2153-8EFFA6AAF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86" y="5174079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831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57F47-C22E-A8B7-6AF1-F09176EFE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896B179-BCCD-ED6D-8045-1CAE980B3D32}"/>
              </a:ext>
            </a:extLst>
          </p:cNvPr>
          <p:cNvSpPr txBox="1"/>
          <p:nvPr/>
        </p:nvSpPr>
        <p:spPr>
          <a:xfrm>
            <a:off x="239486" y="433390"/>
            <a:ext cx="81251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💻 </a:t>
            </a:r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 + S3 Hosting) :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D98910-B2B6-EECE-F402-D52A66AA4648}"/>
              </a:ext>
            </a:extLst>
          </p:cNvPr>
          <p:cNvSpPr/>
          <p:nvPr/>
        </p:nvSpPr>
        <p:spPr>
          <a:xfrm>
            <a:off x="0" y="6566053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AB630D-B035-6430-4B82-E4FFFF60510B}"/>
              </a:ext>
            </a:extLst>
          </p:cNvPr>
          <p:cNvSpPr/>
          <p:nvPr/>
        </p:nvSpPr>
        <p:spPr>
          <a:xfrm>
            <a:off x="0" y="1616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2000A7-4A83-7BBA-E149-A87353814907}"/>
              </a:ext>
            </a:extLst>
          </p:cNvPr>
          <p:cNvSpPr txBox="1"/>
          <p:nvPr/>
        </p:nvSpPr>
        <p:spPr>
          <a:xfrm>
            <a:off x="239486" y="979175"/>
            <a:ext cx="4725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📌</a:t>
            </a:r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Explanation :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619020-43D7-B4F4-E592-416647EE3AD6}"/>
              </a:ext>
            </a:extLst>
          </p:cNvPr>
          <p:cNvSpPr txBox="1"/>
          <p:nvPr/>
        </p:nvSpPr>
        <p:spPr>
          <a:xfrm>
            <a:off x="535604" y="1550610"/>
            <a:ext cx="55603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user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returned from the API (greeting + quote)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1FC973-38AC-89F9-B7CF-622E06105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86" y="1606114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C3E894-1EE6-1F8A-5BA2-373ED502A84C}"/>
              </a:ext>
            </a:extLst>
          </p:cNvPr>
          <p:cNvSpPr txBox="1"/>
          <p:nvPr/>
        </p:nvSpPr>
        <p:spPr>
          <a:xfrm>
            <a:off x="535604" y="2891544"/>
            <a:ext cx="55603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 Button Click (handleGreet):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 API Gateway endpoint with the user’s name as a query parameter.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API response to JSON and updates response state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2494F1-DF05-5851-A911-272CBDA63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86" y="2947048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1FB7DC-D8FA-A681-EF4D-12F22F51E965}"/>
              </a:ext>
            </a:extLst>
          </p:cNvPr>
          <p:cNvSpPr txBox="1"/>
          <p:nvPr/>
        </p:nvSpPr>
        <p:spPr>
          <a:xfrm>
            <a:off x="535604" y="4513222"/>
            <a:ext cx="55603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 UI: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box to type the name.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Greet button triggers API call.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greeting and quote dynamically when response is received.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FC35DB-0CE7-29A0-7127-085563AF4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486" y="4568726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5E4D1D-9EF6-8923-FE83-B8E47D528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603" y="1096437"/>
            <a:ext cx="5386226" cy="508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513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BFF3-8BCC-5581-5F02-E79AD93DA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D8AA33-AEA7-318E-D645-0749FF190321}"/>
              </a:ext>
            </a:extLst>
          </p:cNvPr>
          <p:cNvSpPr txBox="1"/>
          <p:nvPr/>
        </p:nvSpPr>
        <p:spPr>
          <a:xfrm>
            <a:off x="617666" y="480045"/>
            <a:ext cx="4725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🎯 </a:t>
            </a:r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97734A-D03F-AB73-D923-838456153116}"/>
              </a:ext>
            </a:extLst>
          </p:cNvPr>
          <p:cNvSpPr/>
          <p:nvPr/>
        </p:nvSpPr>
        <p:spPr>
          <a:xfrm>
            <a:off x="0" y="6566053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184615-A35C-5DCD-CC4C-22FB068423DF}"/>
              </a:ext>
            </a:extLst>
          </p:cNvPr>
          <p:cNvSpPr/>
          <p:nvPr/>
        </p:nvSpPr>
        <p:spPr>
          <a:xfrm>
            <a:off x="0" y="1616"/>
            <a:ext cx="6345716" cy="29194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6E1B18-C499-BB74-E787-7614F365C8D9}"/>
              </a:ext>
            </a:extLst>
          </p:cNvPr>
          <p:cNvSpPr txBox="1"/>
          <p:nvPr/>
        </p:nvSpPr>
        <p:spPr>
          <a:xfrm>
            <a:off x="617665" y="3020734"/>
            <a:ext cx="4725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 </a:t>
            </a:r>
            <a:r>
              <a:rPr lang="en-IN" altLang="ko-KR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Learnings:</a:t>
            </a:r>
            <a:endParaRPr lang="ko-KR" altLang="en-US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5A7CE1-0309-30FB-B331-4E2FC5B24EC4}"/>
              </a:ext>
            </a:extLst>
          </p:cNvPr>
          <p:cNvSpPr txBox="1"/>
          <p:nvPr/>
        </p:nvSpPr>
        <p:spPr>
          <a:xfrm>
            <a:off x="1076535" y="3611280"/>
            <a:ext cx="9308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experience with React frontend, AWS Lambda, API Gateway, and S3 hosting.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E630B75-D59B-82EE-16F5-9C7230696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59" y="3665661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8B619C9-9E09-E73A-7BF0-4002139E9179}"/>
              </a:ext>
            </a:extLst>
          </p:cNvPr>
          <p:cNvSpPr txBox="1"/>
          <p:nvPr/>
        </p:nvSpPr>
        <p:spPr>
          <a:xfrm>
            <a:off x="1076535" y="4063069"/>
            <a:ext cx="7470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 CORS handling for frontend-backend integration.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0D9F27D-8051-68CC-B88A-0873301BF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36" y="4118573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DB7F945E-5FED-39D7-F1B3-F17EC367F7C3}"/>
              </a:ext>
            </a:extLst>
          </p:cNvPr>
          <p:cNvSpPr txBox="1"/>
          <p:nvPr/>
        </p:nvSpPr>
        <p:spPr>
          <a:xfrm>
            <a:off x="1086529" y="4531246"/>
            <a:ext cx="8831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serverless architecture and Infrastructure as Code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IaC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EB0067E-FD59-C6AC-81BA-0D3CC1A3C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41" y="4584655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7AA995F-AC7D-94F3-E986-B5E20ADE7E68}"/>
              </a:ext>
            </a:extLst>
          </p:cNvPr>
          <p:cNvSpPr txBox="1"/>
          <p:nvPr/>
        </p:nvSpPr>
        <p:spPr>
          <a:xfrm>
            <a:off x="1086530" y="5038522"/>
            <a:ext cx="7534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confidence in end-to-end cloud project deployment.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96E5EC0-0BD2-272A-8034-614DFB9DB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36" y="5064432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401B87-07DD-0E12-2C82-1F3FE300F850}"/>
              </a:ext>
            </a:extLst>
          </p:cNvPr>
          <p:cNvSpPr txBox="1"/>
          <p:nvPr/>
        </p:nvSpPr>
        <p:spPr>
          <a:xfrm>
            <a:off x="1086530" y="1144459"/>
            <a:ext cx="8067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 serverless greeting website with dynamic quotes.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FCAFE0-F0D5-E0F6-140E-AF6B85092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36" y="1170369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0B8F85-4F53-A8F6-C6AE-C7322C5D9E7C}"/>
              </a:ext>
            </a:extLst>
          </p:cNvPr>
          <p:cNvSpPr txBox="1"/>
          <p:nvPr/>
        </p:nvSpPr>
        <p:spPr>
          <a:xfrm>
            <a:off x="1086529" y="1566637"/>
            <a:ext cx="8831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app deployed entirely on AWS Free Tier.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39B5DE-B4C9-5A63-B3F8-83309E179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36" y="1592547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5356391-964E-A91C-A6E3-E46A26833427}"/>
              </a:ext>
            </a:extLst>
          </p:cNvPr>
          <p:cNvSpPr txBox="1"/>
          <p:nvPr/>
        </p:nvSpPr>
        <p:spPr>
          <a:xfrm>
            <a:off x="1076535" y="2010860"/>
            <a:ext cx="5539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automated using AWS CDK.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F27345-7E9C-E97E-5E44-52116AE54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41" y="2036770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60C7A2-1D8D-07CE-A4ED-AFFAEBA01BEB}"/>
              </a:ext>
            </a:extLst>
          </p:cNvPr>
          <p:cNvSpPr txBox="1"/>
          <p:nvPr/>
        </p:nvSpPr>
        <p:spPr>
          <a:xfrm>
            <a:off x="1086530" y="2455083"/>
            <a:ext cx="108846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end-to-end cloud deployment skills, integrating frontend, backend, and hosting seamlessly.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AC3A8A8-46C8-6BC9-F043-6DB2D437E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36" y="2480993"/>
            <a:ext cx="258324" cy="25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883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BF2424"/>
      </a:lt2>
      <a:accent1>
        <a:srgbClr val="01BBC2"/>
      </a:accent1>
      <a:accent2>
        <a:srgbClr val="A2CD37"/>
      </a:accent2>
      <a:accent3>
        <a:srgbClr val="00B0F0"/>
      </a:accent3>
      <a:accent4>
        <a:srgbClr val="FD6D67"/>
      </a:accent4>
      <a:accent5>
        <a:srgbClr val="EAA31B"/>
      </a:accent5>
      <a:accent6>
        <a:srgbClr val="934584"/>
      </a:accent6>
      <a:hlink>
        <a:srgbClr val="BF242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580</Words>
  <Application>Microsoft Office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 Solutions</dc:creator>
  <cp:lastModifiedBy>Pooja</cp:lastModifiedBy>
  <cp:revision>21</cp:revision>
  <dcterms:created xsi:type="dcterms:W3CDTF">2021-11-18T08:02:54Z</dcterms:created>
  <dcterms:modified xsi:type="dcterms:W3CDTF">2025-10-14T17:33:49Z</dcterms:modified>
</cp:coreProperties>
</file>